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8791e624d8456a" /><Relationship Type="http://schemas.openxmlformats.org/officeDocument/2006/relationships/extended-properties" Target="/docProps/app.xml" Id="Rb2d0945685364046" /><Relationship Type="http://schemas.openxmlformats.org/officeDocument/2006/relationships/officeDocument" Target="/ppt/presentation.xml" Id="R5f689ee4836b4ae6" /></Relationships>
</file>

<file path=ppt/presentation.xml><?xml version="1.0" encoding="utf-8"?>
<p:presentation xmlns:p="http://schemas.openxmlformats.org/presentationml/2006/main">
  <p:sldMasterIdLst>
    <p:sldMasterId xmlns:r="http://schemas.openxmlformats.org/officeDocument/2006/relationships" id="2147483648" r:id="R27b1e685445a486e"/>
  </p:sldMasterIdLst>
  <p:notesMasterIdLst>
    <p:notesMasterId xmlns:r="http://schemas.openxmlformats.org/officeDocument/2006/relationships" r:id="Rabfadab44f534a8c"/>
  </p:notesMasterIdLst>
  <p:sldIdLst>
    <p:sldId xmlns:r="http://schemas.openxmlformats.org/officeDocument/2006/relationships" id="256" r:id="R84019db222d44ee8"/>
    <p:sldId xmlns:r="http://schemas.openxmlformats.org/officeDocument/2006/relationships" id="257" r:id="Rc809bd790b514e61"/>
    <p:sldId xmlns:r="http://schemas.openxmlformats.org/officeDocument/2006/relationships" id="258" r:id="Rec8bc298ffe145af"/>
    <p:sldId xmlns:r="http://schemas.openxmlformats.org/officeDocument/2006/relationships" id="259" r:id="R111e8f07c7114a70"/>
    <p:sldId xmlns:r="http://schemas.openxmlformats.org/officeDocument/2006/relationships" id="260" r:id="R8793076896f149a5"/>
    <p:sldId xmlns:r="http://schemas.openxmlformats.org/officeDocument/2006/relationships" id="261" r:id="R9173f19543824e7a"/>
    <p:sldId xmlns:r="http://schemas.openxmlformats.org/officeDocument/2006/relationships" id="262" r:id="R373ba134a6a84c18"/>
    <p:sldId xmlns:r="http://schemas.openxmlformats.org/officeDocument/2006/relationships" id="263" r:id="Rf92e44ed9fa14c30"/>
    <p:sldId xmlns:r="http://schemas.openxmlformats.org/officeDocument/2006/relationships" id="264" r:id="Rc9252591cebd43fe"/>
    <p:sldId xmlns:r="http://schemas.openxmlformats.org/officeDocument/2006/relationships" id="265" r:id="Rd035038289bf4a00"/>
    <p:sldId xmlns:r="http://schemas.openxmlformats.org/officeDocument/2006/relationships" id="266" r:id="R641491c5c17a4ad2"/>
    <p:sldId xmlns:r="http://schemas.openxmlformats.org/officeDocument/2006/relationships" id="267" r:id="Re19f18292d30460d"/>
    <p:sldId xmlns:r="http://schemas.openxmlformats.org/officeDocument/2006/relationships" id="268" r:id="R928cfc9fd0264bdd"/>
    <p:sldId xmlns:r="http://schemas.openxmlformats.org/officeDocument/2006/relationships" id="269" r:id="R9232e22c47d043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3c3419461a43ef" /><Relationship Type="http://schemas.openxmlformats.org/officeDocument/2006/relationships/slideMaster" Target="/ppt/slideMasters/slideMaster1.xml" Id="R27b1e685445a486e" /><Relationship Type="http://schemas.openxmlformats.org/officeDocument/2006/relationships/notesMaster" Target="/ppt/notesMasters/notesMaster1.xml" Id="Rabfadab44f534a8c" /><Relationship Type="http://schemas.openxmlformats.org/officeDocument/2006/relationships/presProps" Target="/ppt/presProps.xml" Id="Rb5c4590cc9f54e94" /><Relationship Type="http://schemas.openxmlformats.org/officeDocument/2006/relationships/tableStyles" Target="/ppt/tableStyles.xml" Id="Rb9a7635647b9491d" /><Relationship Type="http://schemas.openxmlformats.org/officeDocument/2006/relationships/slide" Target="/ppt/slides/slide1.xml" Id="R84019db222d44ee8" /><Relationship Type="http://schemas.openxmlformats.org/officeDocument/2006/relationships/slide" Target="/ppt/slides/slide2.xml" Id="Rc809bd790b514e61" /><Relationship Type="http://schemas.openxmlformats.org/officeDocument/2006/relationships/slide" Target="/ppt/slides/slide3.xml" Id="Rec8bc298ffe145af" /><Relationship Type="http://schemas.openxmlformats.org/officeDocument/2006/relationships/slide" Target="/ppt/slides/slide4.xml" Id="R111e8f07c7114a70" /><Relationship Type="http://schemas.openxmlformats.org/officeDocument/2006/relationships/slide" Target="/ppt/slides/slide5.xml" Id="R8793076896f149a5" /><Relationship Type="http://schemas.openxmlformats.org/officeDocument/2006/relationships/slide" Target="/ppt/slides/slide6.xml" Id="R9173f19543824e7a" /><Relationship Type="http://schemas.openxmlformats.org/officeDocument/2006/relationships/slide" Target="/ppt/slides/slide7.xml" Id="R373ba134a6a84c18" /><Relationship Type="http://schemas.openxmlformats.org/officeDocument/2006/relationships/slide" Target="/ppt/slides/slide8.xml" Id="Rf92e44ed9fa14c30" /><Relationship Type="http://schemas.openxmlformats.org/officeDocument/2006/relationships/slide" Target="/ppt/slides/slide9.xml" Id="Rc9252591cebd43fe" /><Relationship Type="http://schemas.openxmlformats.org/officeDocument/2006/relationships/slide" Target="/ppt/slides/slide10.xml" Id="Rd035038289bf4a00" /><Relationship Type="http://schemas.openxmlformats.org/officeDocument/2006/relationships/slide" Target="/ppt/slides/slide11.xml" Id="R641491c5c17a4ad2" /><Relationship Type="http://schemas.openxmlformats.org/officeDocument/2006/relationships/slide" Target="/ppt/slides/slide12.xml" Id="Re19f18292d30460d" /><Relationship Type="http://schemas.openxmlformats.org/officeDocument/2006/relationships/slide" Target="/ppt/slides/slide13.xml" Id="R928cfc9fd0264bdd" /><Relationship Type="http://schemas.openxmlformats.org/officeDocument/2006/relationships/slide" Target="/ppt/slides/slide14.xml" Id="R9232e22c47d043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f369a0f45e4c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832aa539f94868" /><Relationship Type="http://schemas.openxmlformats.org/officeDocument/2006/relationships/notesMaster" Target="/ppt/notesMasters/notesMaster1.xml" Id="Rdaeb1c4442944b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34e3dfd5bb45d0" /><Relationship Type="http://schemas.openxmlformats.org/officeDocument/2006/relationships/notesMaster" Target="/ppt/notesMasters/notesMaster1.xml" Id="R4ce37554710c42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4b25915eb94995" /><Relationship Type="http://schemas.openxmlformats.org/officeDocument/2006/relationships/notesMaster" Target="/ppt/notesMasters/notesMaster1.xml" Id="R1fce1c97ce4048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19fa68df1f4bc3" /><Relationship Type="http://schemas.openxmlformats.org/officeDocument/2006/relationships/notesMaster" Target="/ppt/notesMasters/notesMaster1.xml" Id="Rb2a30c3f135643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e66f869af0486d" /><Relationship Type="http://schemas.openxmlformats.org/officeDocument/2006/relationships/notesMaster" Target="/ppt/notesMasters/notesMaster1.xml" Id="Rd70cfc1a45984a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af32332ed34308" /><Relationship Type="http://schemas.openxmlformats.org/officeDocument/2006/relationships/notesMaster" Target="/ppt/notesMasters/notesMaster1.xml" Id="Rcd6b7a8dddbb44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d6e9ad1dff4806" /><Relationship Type="http://schemas.openxmlformats.org/officeDocument/2006/relationships/notesMaster" Target="/ppt/notesMasters/notesMaster1.xml" Id="Re674514638b44d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b78615f2714590" /><Relationship Type="http://schemas.openxmlformats.org/officeDocument/2006/relationships/notesMaster" Target="/ppt/notesMasters/notesMaster1.xml" Id="R77179c16ed324c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fa92e02c0245b5" /><Relationship Type="http://schemas.openxmlformats.org/officeDocument/2006/relationships/notesMaster" Target="/ppt/notesMasters/notesMaster1.xml" Id="R081444871cf546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fc59d9e8704760" /><Relationship Type="http://schemas.openxmlformats.org/officeDocument/2006/relationships/notesMaster" Target="/ppt/notesMasters/notesMaster1.xml" Id="Rb15d2f1be0444f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2e1fbcedd54de2" /><Relationship Type="http://schemas.openxmlformats.org/officeDocument/2006/relationships/notesMaster" Target="/ppt/notesMasters/notesMaster1.xml" Id="R031dc676145a43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8927ea7663467c" /><Relationship Type="http://schemas.openxmlformats.org/officeDocument/2006/relationships/notesMaster" Target="/ppt/notesMasters/notesMaster1.xml" Id="Re46489b419b041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74246e5b5e4028" /><Relationship Type="http://schemas.openxmlformats.org/officeDocument/2006/relationships/notesMaster" Target="/ppt/notesMasters/notesMaster1.xml" Id="R6ae0731200fc48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bf95e23b0a14483" /><Relationship Type="http://schemas.openxmlformats.org/officeDocument/2006/relationships/notesMaster" Target="/ppt/notesMasters/notesMaster1.xml" Id="R54fb59edf6fe44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is a 3.5-hour collaborative workshop. Participants can code manually, pair or use their preferred coding agent. No paid AI account is needed for the exercises. Materials: https://github.com/glennreyes/generative-ui-mcp-workshop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completed demo live, then use this actual screenshot as the fallback. State that all sessions are fictional, not the React Alicante schedule. Call show_sessions with topic react, startTime 13:00 and view compare. Three records should 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coding agent helps build the app. The conversational model later chooses tools in the finished app. These are different roles. Use checkpoints to recover without overwriting participant work. Ask attendees to predict one filter result 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Generative means the model chooses among supported, validated arguments and presentations. React is trusted application code. We are not running model-generated JSX, HTML or JavaScript. The local test host makes the arguments explicit; the instructor demonstrates natural language in a compatible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this flow in docs/architecture.md. Tools do work; resources supply content. The ui:// identifier is an MCP resource URI, not an HTTP page. Our local host replaces model selection with a tool form. Source: https://modelcontextprotocol.io/extensions/apps/overview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packages/agenda/src/schema.ts. Defaults live in one schema. Explain the complete-attendance time-window rule. content provides a readable text fallback; structuredContent supplies the typed result. Source: https://ts.sdk.modelcontextprotocol.io/v2/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docs/exercises/01-tool.md. Ask whether the 15:00–15:45 session belongs in a window ending at 15:00. It does not. Expected React 13:00–15:00 result: react-patterns and react-performance. Read the diff and show the actual tool result before moving on. Break follows this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docs/exercises/02-react-ui.md and apps/server/src/server.ts. Register the single-file resource using RESOURCE_MIME_TYPE. Explain that the UI handler is installed before connect. Keep content text fallback and CSP metadata. Source: https://apps.extensions.modelcontextprotocol.io/api/documents/migrate-to-v2.html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docs/exercises/03-views.md. Add the comparison Table using the existing shadcn components. Call from the host with view list, then compare. UI buttons are completed in exercise 4. The screenshot shows the actual list rendering. Break follows this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docs/exercises/04-interaction.md. The snippet shows the data path; the implementation also checks isError and supplies a timeout. A UI-initiated result returns to the caller; do not wait for a new ontoolresult event. Review pending, error and stale-result handling in app.tsx. Source: MCP Apps SDK app.callServerTool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Help me choose in the prepared host and inspect Messages. The message contains the visible session IDs and applied filters. Check host capabilities, handle rejection and preserve the main browsing interaction if follow-up is unsupported. Source: https://modelcontextprotocol.io/extensions/apps/overview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an empty 17:00–18:00 window, then a reversed window and recovery. Do not replace working data with a blank screen while loading. Untrusted strings render as text. The sandbox and typed contract have different jobs. A read-only example avoids real booking side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docs/exercises/05-challenge.md. Prefer the room-filter option if short on time. Ask pairs to show the changed tool argument and output, not just the screen. The timeline is a stretch option; think about simultaneous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 the final fifteen minutes for Q&amp;A and recovery. Ask attendees to name the model, host, tool, resource and React responsibilities. Share the final checkpoint and invite follow-up in #react-alicante-2026. Conference: https://reactalicante.es . Reusable description: docs/workshop.md.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39bfe6f2b74b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48ecd3b02c4829" /><Relationship Type="http://schemas.openxmlformats.org/officeDocument/2006/relationships/slideLayout" Target="/ppt/slideLayouts/slideLayout1.xml" Id="Rb6207894ef7e4f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207894ef7e4f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c19aa91ebb49ec" /><Relationship Type="http://schemas.openxmlformats.org/officeDocument/2006/relationships/notesSlide" Target="/ppt/notesSlides/notesSlide1.xml" Id="Rf763d476520041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9643679bea4f69" /><Relationship Type="http://schemas.openxmlformats.org/officeDocument/2006/relationships/image" Target="/ppt/media/image.jpeg" Id="R9bf0db8598cc4947" /><Relationship Type="http://schemas.openxmlformats.org/officeDocument/2006/relationships/notesSlide" Target="/ppt/notesSlides/notesSlide2.xml" Id="R96b4ad96e3b049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b48ac6b4b941c6" /><Relationship Type="http://schemas.openxmlformats.org/officeDocument/2006/relationships/notesSlide" Target="/ppt/notesSlides/notesSlide3.xml" Id="Rfbd55e11849944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9f946177a04d2d" /><Relationship Type="http://schemas.openxmlformats.org/officeDocument/2006/relationships/notesSlide" Target="/ppt/notesSlides/notesSlide4.xml" Id="R04c5e0d3a8a84a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6b999f33d5486f" /><Relationship Type="http://schemas.openxmlformats.org/officeDocument/2006/relationships/notesSlide" Target="/ppt/notesSlides/notesSlide5.xml" Id="Rbed19fd75a2f4b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5f25be72ae448b" /><Relationship Type="http://schemas.openxmlformats.org/officeDocument/2006/relationships/notesSlide" Target="/ppt/notesSlides/notesSlide6.xml" Id="Rd128f720b67441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e1297b71844a54" /><Relationship Type="http://schemas.openxmlformats.org/officeDocument/2006/relationships/notesSlide" Target="/ppt/notesSlides/notesSlide7.xml" Id="Raab59bd0bde94f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d001bad72e40c3" /><Relationship Type="http://schemas.openxmlformats.org/officeDocument/2006/relationships/notesSlide" Target="/ppt/notesSlides/notesSlide8.xml" Id="Rd179662a583249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4fd60dde454322" /><Relationship Type="http://schemas.openxmlformats.org/officeDocument/2006/relationships/image" Target="/ppt/media/image2.jpeg" Id="R80751525ed3f418d" /><Relationship Type="http://schemas.openxmlformats.org/officeDocument/2006/relationships/notesSlide" Target="/ppt/notesSlides/notesSlide9.xml" Id="R4785ff83d7734d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e6b118267d4095" /><Relationship Type="http://schemas.openxmlformats.org/officeDocument/2006/relationships/notesSlide" Target="/ppt/notesSlides/notesSlide10.xml" Id="Radb7e1159b4a41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aca406d5274d74" /><Relationship Type="http://schemas.openxmlformats.org/officeDocument/2006/relationships/notesSlide" Target="/ppt/notesSlides/notesSlide11.xml" Id="Rdaf3701418e84a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854b6f1a295436c" /><Relationship Type="http://schemas.openxmlformats.org/officeDocument/2006/relationships/notesSlide" Target="/ppt/notesSlides/notesSlide12.xml" Id="Red7d5057aa0c4b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d132dae30aa47d9" /><Relationship Type="http://schemas.openxmlformats.org/officeDocument/2006/relationships/notesSlide" Target="/ppt/notesSlides/notesSlide13.xml" Id="R8504d30adab947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fb66132737d4141" /><Relationship Type="http://schemas.openxmlformats.org/officeDocument/2006/relationships/notesSlide" Target="/ppt/notesSlides/notesSlide14.xml" Id="R4f18845def4b44e9" /></Relationships>
</file>

<file path=ppt/slides/slide1.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DC0741D-2675-42C6-B240-66FD6E70BC48}"/>
              </a:ext>
            </a:extLst>
          </p:cNvPr>
          <p:cNvSpPr>
            <a:spLocks xmlns:a="http://schemas.openxmlformats.org/drawingml/2006/main" noGrp="1"/>
          </p:cNvSpPr>
          <p:nvPr/>
        </p:nvSpPr>
        <p:spPr>
          <a:xfrm xmlns:a="http://schemas.openxmlformats.org/drawingml/2006/main">
            <a:off x="685800" y="1571625"/>
            <a:ext cx="108204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5100" b="1">
                <a:solidFill>
                  <a:srgbClr val="F3F4F6"/>
                </a:solidFill>
                <a:latin typeface="Arial"/>
                <a:ea typeface="Arial"/>
                <a:cs typeface="Arial"/>
              </a:defRPr>
            </a:pPr>
            <a:r>
              <a:rPr sz="5100" b="1">
                <a:solidFill>
                  <a:srgbClr val="F3F4F6"/>
                </a:solidFill>
                <a:latin typeface="Arial"/>
                <a:ea typeface="Arial"/>
                <a:cs typeface="Arial"/>
              </a:rPr>
              <a:t>Building Generative UI</a:t>
            </a:r>
          </a:p>
          <a:p xmlns:a="http://schemas.openxmlformats.org/drawingml/2006/main">
            <a:pPr>
              <a:lnSpc>
                <a:spcPct val="135000"/>
              </a:lnSpc>
              <a:buNone/>
              <a:defRPr sz="5100" b="1">
                <a:solidFill>
                  <a:srgbClr val="F3F4F6"/>
                </a:solidFill>
                <a:latin typeface="Arial"/>
                <a:ea typeface="Arial"/>
                <a:cs typeface="Arial"/>
              </a:defRPr>
            </a:pPr>
            <a:r>
              <a:rPr sz="5100" b="1">
                <a:solidFill>
                  <a:srgbClr val="F3F4F6"/>
                </a:solidFill>
                <a:latin typeface="Arial"/>
                <a:ea typeface="Arial"/>
                <a:cs typeface="Arial"/>
              </a:rPr>
              <a:t>with MCP in React</a:t>
            </a:r>
          </a:p>
        </p:txBody>
      </p:sp>
      <p:sp>
        <p:nvSpPr>
          <p:cNvPr id="2" name="">
            <a:extLst xmlns:a="http://schemas.openxmlformats.org/drawingml/2006/main">
              <a:ext uri="{FF2B5EF4-FFF2-40B4-BE49-F238E27FC236}">
                <a16:creationId xmlns:a16="http://schemas.microsoft.com/office/drawing/2014/main" id="{AB4E5421-35F1-4A73-82A1-47B2401F1570}"/>
              </a:ext>
            </a:extLst>
          </p:cNvPr>
          <p:cNvSpPr>
            <a:spLocks xmlns:a="http://schemas.openxmlformats.org/drawingml/2006/main" noGrp="1"/>
          </p:cNvSpPr>
          <p:nvPr/>
        </p:nvSpPr>
        <p:spPr>
          <a:xfrm xmlns:a="http://schemas.openxmlformats.org/drawingml/2006/main">
            <a:off x="7239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Glenn Reyes</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React Alicante · September 24, 2026</a:t>
            </a:r>
          </a:p>
        </p:txBody>
      </p:sp>
    </p:spTree>
    <p:extLst>
      <p:ext uri="{BB962C8B-B14F-4D97-AF65-F5344CB8AC3E}">
        <p14:creationId xmlns:p14="http://schemas.microsoft.com/office/powerpoint/2010/main" val="1721753208"/>
      </p:ext>
    </p:extLst>
  </p:cSld>
</p:sld>
</file>

<file path=ppt/slides/slide2.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8DB5E7B-54D4-4203-9BC5-92FC0287C58D}"/>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The Conference Agenda Assistant</a:t>
            </a:r>
          </a:p>
        </p:txBody>
      </p:sp>
      <p:sp>
        <p:nvSpPr>
          <p:cNvPr id="2" name="">
            <a:extLst xmlns:a="http://schemas.openxmlformats.org/drawingml/2006/main">
              <a:ext uri="{FF2B5EF4-FFF2-40B4-BE49-F238E27FC236}">
                <a16:creationId xmlns:a16="http://schemas.microsoft.com/office/drawing/2014/main" id="{6F57F8AB-4E2C-4A64-976C-1EE714D0DBDD}"/>
              </a:ext>
            </a:extLst>
          </p:cNvPr>
          <p:cNvSpPr>
            <a:spLocks xmlns:a="http://schemas.openxmlformats.org/drawingml/2006/main" noGrp="1"/>
          </p:cNvSpPr>
          <p:nvPr/>
        </p:nvSpPr>
        <p:spPr>
          <a:xfrm xmlns:a="http://schemas.openxmlformats.org/drawingml/2006/main">
            <a:off x="685800" y="13525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1950" b="0">
                <a:solidFill>
                  <a:srgbClr val="B8C2CA"/>
                </a:solidFill>
                <a:latin typeface="Arial"/>
                <a:ea typeface="Arial"/>
                <a:cs typeface="Arial"/>
              </a:defRPr>
            </a:pPr>
            <a:r>
              <a:rPr sz="1950" b="0">
                <a:solidFill>
                  <a:srgbClr val="B8C2CA"/>
                </a:solidFill>
                <a:latin typeface="Arial"/>
                <a:ea typeface="Arial"/>
                <a:cs typeface="Arial"/>
              </a:rPr>
              <a:t>One tool. Twelve fictional sessions.</a:t>
            </a:r>
          </a:p>
          <a:p xmlns:a="http://schemas.openxmlformats.org/drawingml/2006/main">
            <a:pPr>
              <a:lnSpc>
                <a:spcPct val="135000"/>
              </a:lnSpc>
              <a:buNone/>
              <a:defRPr sz="1950" b="0">
                <a:solidFill>
                  <a:srgbClr val="B8C2CA"/>
                </a:solidFill>
                <a:latin typeface="Arial"/>
                <a:ea typeface="Arial"/>
                <a:cs typeface="Arial"/>
              </a:defRPr>
            </a:pPr>
            <a:r>
              <a:rPr sz="1950" b="0">
                <a:solidFill>
                  <a:srgbClr val="B8C2CA"/>
                </a:solidFill>
                <a:latin typeface="Arial"/>
                <a:ea typeface="Arial"/>
                <a:cs typeface="Arial"/>
              </a:rPr>
              <a:t>A list, a comparison and a filter.</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bf0db8598cc4947"/>
          <a:stretch xmlns:a="http://schemas.openxmlformats.org/drawingml/2006/main"/>
        </p:blipFill>
        <p:spPr>
          <a:xfrm xmlns:a="http://schemas.openxmlformats.org/drawingml/2006/main">
            <a:off x="2082800" y="2095500"/>
            <a:ext cx="8026400" cy="4514850"/>
          </a:xfrm>
          <a:prstGeom xmlns:a="http://schemas.openxmlformats.org/drawingml/2006/main" prst="rect">
            <a:avLst/>
          </a:prstGeom>
        </p:spPr>
      </p:pic>
    </p:spTree>
    <p:extLst>
      <p:ext uri="{BB962C8B-B14F-4D97-AF65-F5344CB8AC3E}">
        <p14:creationId xmlns:p14="http://schemas.microsoft.com/office/powerpoint/2010/main" val="1629039677"/>
      </p:ext>
    </p:extLst>
  </p:cSld>
</p:sld>
</file>

<file path=ppt/slides/slide3.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D232E3E-4211-4BA2-BCAF-7A057D8DF6C2}"/>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How we’ll work</a:t>
            </a:r>
          </a:p>
        </p:txBody>
      </p:sp>
      <p:sp>
        <p:nvSpPr>
          <p:cNvPr id="2" name="">
            <a:extLst xmlns:a="http://schemas.openxmlformats.org/drawingml/2006/main">
              <a:ext uri="{FF2B5EF4-FFF2-40B4-BE49-F238E27FC236}">
                <a16:creationId xmlns:a16="http://schemas.microsoft.com/office/drawing/2014/main" id="{1BC53842-09B0-45B4-B70F-EBC159DC66D4}"/>
              </a:ext>
            </a:extLst>
          </p:cNvPr>
          <p:cNvSpPr>
            <a:spLocks xmlns:a="http://schemas.openxmlformats.org/drawingml/2006/main" noGrp="1"/>
          </p:cNvSpPr>
          <p:nvPr/>
        </p:nvSpPr>
        <p:spPr>
          <a:xfrm xmlns:a="http://schemas.openxmlformats.org/drawingml/2006/main">
            <a:off x="762000" y="2047875"/>
            <a:ext cx="10668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Predict the result before changing the code.</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Build a small change, then read the diff.</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Run it and explain what happened.</a:t>
            </a:r>
          </a:p>
          <a:p xmlns:a="http://schemas.openxmlformats.org/drawingml/2006/main">
            <a:r>
              <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Manual coding, pairing and agents all work.</a:t>
            </a:r>
          </a:p>
        </p:txBody>
      </p:sp>
    </p:spTree>
    <p:extLst>
      <p:ext uri="{BB962C8B-B14F-4D97-AF65-F5344CB8AC3E}">
        <p14:creationId xmlns:p14="http://schemas.microsoft.com/office/powerpoint/2010/main" val="1941460199"/>
      </p:ext>
    </p:extLst>
  </p:cSld>
</p:sld>
</file>

<file path=ppt/slides/slide4.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F6CE867-9295-491D-8443-069148C39670}"/>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Intent and presentation</a:t>
            </a:r>
          </a:p>
        </p:txBody>
      </p:sp>
      <p:sp>
        <p:nvSpPr>
          <p:cNvPr id="2" name="">
            <a:extLst xmlns:a="http://schemas.openxmlformats.org/drawingml/2006/main">
              <a:ext uri="{FF2B5EF4-FFF2-40B4-BE49-F238E27FC236}">
                <a16:creationId xmlns:a16="http://schemas.microsoft.com/office/drawing/2014/main" id="{E6C00AD4-8E35-4579-8304-F3B5AD48E4BB}"/>
              </a:ext>
            </a:extLst>
          </p:cNvPr>
          <p:cNvSpPr>
            <a:spLocks xmlns:a="http://schemas.openxmlformats.org/drawingml/2006/main" noGrp="1"/>
          </p:cNvSpPr>
          <p:nvPr/>
        </p:nvSpPr>
        <p:spPr>
          <a:xfrm xmlns:a="http://schemas.openxmlformats.org/drawingml/2006/main">
            <a:off x="762000" y="2047875"/>
            <a:ext cx="10668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“Show me React sessions this afternoon.”</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 topic: react · startTime: 13:00 · view: list</a:t>
            </a:r>
          </a:p>
          <a:p xmlns:a="http://schemas.openxmlformats.org/drawingml/2006/main">
            <a:r>
              <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“Compare them so I can choose.”</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 same filters · view: compare</a:t>
            </a:r>
          </a:p>
        </p:txBody>
      </p:sp>
    </p:spTree>
    <p:extLst>
      <p:ext uri="{BB962C8B-B14F-4D97-AF65-F5344CB8AC3E}">
        <p14:creationId xmlns:p14="http://schemas.microsoft.com/office/powerpoint/2010/main" val="125432875"/>
      </p:ext>
    </p:extLst>
  </p:cSld>
</p:sld>
</file>

<file path=ppt/slides/slide5.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3B79DF7-AAB7-43D8-B6BE-4ACDCAA561F5}"/>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The application flow</a:t>
            </a:r>
          </a:p>
        </p:txBody>
      </p:sp>
      <p:sp>
        <p:nvSpPr>
          <p:cNvPr id="2" name="">
            <a:extLst xmlns:a="http://schemas.openxmlformats.org/drawingml/2006/main">
              <a:ext uri="{FF2B5EF4-FFF2-40B4-BE49-F238E27FC236}">
                <a16:creationId xmlns:a16="http://schemas.microsoft.com/office/drawing/2014/main" id="{E04A5478-4907-4C5B-BFC1-25F4D1E5CFBC}"/>
              </a:ext>
            </a:extLst>
          </p:cNvPr>
          <p:cNvSpPr>
            <a:spLocks xmlns:a="http://schemas.openxmlformats.org/drawingml/2006/main" noGrp="1"/>
          </p:cNvSpPr>
          <p:nvPr/>
        </p:nvSpPr>
        <p:spPr>
          <a:xfrm xmlns:a="http://schemas.openxmlformats.org/drawingml/2006/main">
            <a:off x="762000" y="2047875"/>
            <a:ext cx="10668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Model chooses the tool and arguments</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Host calls the MCP server</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Server returns data and a UI resource reference</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Host loads React in a sandbox</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React calls tools through the host bridge</a:t>
            </a:r>
          </a:p>
        </p:txBody>
      </p:sp>
    </p:spTree>
    <p:extLst>
      <p:ext uri="{BB962C8B-B14F-4D97-AF65-F5344CB8AC3E}">
        <p14:creationId xmlns:p14="http://schemas.microsoft.com/office/powerpoint/2010/main" val="1579830357"/>
      </p:ext>
    </p:extLst>
  </p:cSld>
</p:sld>
</file>

<file path=ppt/slides/slide6.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2540A11-F3E9-4189-8B96-7FFF3D334311}"/>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The tool contract</a:t>
            </a:r>
          </a:p>
        </p:txBody>
      </p:sp>
      <p:sp>
        <p:nvSpPr>
          <p:cNvPr id="2" name="">
            <a:extLst xmlns:a="http://schemas.openxmlformats.org/drawingml/2006/main">
              <a:ext uri="{FF2B5EF4-FFF2-40B4-BE49-F238E27FC236}">
                <a16:creationId xmlns:a16="http://schemas.microsoft.com/office/drawing/2014/main" id="{7C2C6F89-AEAD-448E-96D6-4890F5F953FE}"/>
              </a:ext>
            </a:extLst>
          </p:cNvPr>
          <p:cNvSpPr>
            <a:spLocks xmlns:a="http://schemas.openxmlformats.org/drawingml/2006/main" noGrp="1"/>
          </p:cNvSpPr>
          <p:nvPr/>
        </p:nvSpPr>
        <p:spPr>
          <a:xfrm xmlns:a="http://schemas.openxmlformats.org/drawingml/2006/main">
            <a:off x="762000" y="1809750"/>
            <a:ext cx="1066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show_sessions({</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  topic: "react",</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  startTime: "13:00",</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  endTime: "18:00",</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  view: "compare"</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9A67AD60-2F06-4E45-8D59-CFE3F0B750F1}"/>
              </a:ext>
            </a:extLst>
          </p:cNvPr>
          <p:cNvSpPr>
            <a:spLocks xmlns:a="http://schemas.openxmlformats.org/drawingml/2006/main" noGrp="1"/>
          </p:cNvSpPr>
          <p:nvPr/>
        </p:nvSpPr>
        <p:spPr>
          <a:xfrm xmlns:a="http://schemas.openxmlformats.org/drawingml/2006/main">
            <a:off x="762000" y="5810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100" b="0">
                <a:solidFill>
                  <a:srgbClr val="B8C2CA"/>
                </a:solidFill>
                <a:latin typeface="Arial"/>
                <a:ea typeface="Arial"/>
                <a:cs typeface="Arial"/>
              </a:defRPr>
            </a:pPr>
            <a:r>
              <a:rPr sz="2100" b="0">
                <a:solidFill>
                  <a:srgbClr val="B8C2CA"/>
                </a:solidFill>
                <a:latin typeface="Arial"/>
                <a:ea typeface="Arial"/>
                <a:cs typeface="Arial"/>
              </a:rPr>
              <a:t>Zod validates inputs and structured results.</a:t>
            </a:r>
          </a:p>
        </p:txBody>
      </p:sp>
    </p:spTree>
    <p:extLst>
      <p:ext uri="{BB962C8B-B14F-4D97-AF65-F5344CB8AC3E}">
        <p14:creationId xmlns:p14="http://schemas.microsoft.com/office/powerpoint/2010/main" val="1518165509"/>
      </p:ext>
    </p:extLst>
  </p:cSld>
</p:sld>
</file>

<file path=ppt/slides/slide7.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17AF5A86-CBAD-4A60-8251-CD231E0C6D90}"/>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Exercise 1 · The session tool</a:t>
            </a:r>
          </a:p>
        </p:txBody>
      </p:sp>
      <p:sp>
        <p:nvSpPr>
          <p:cNvPr id="2" name="">
            <a:extLst xmlns:a="http://schemas.openxmlformats.org/drawingml/2006/main">
              <a:ext uri="{FF2B5EF4-FFF2-40B4-BE49-F238E27FC236}">
                <a16:creationId xmlns:a16="http://schemas.microsoft.com/office/drawing/2014/main" id="{D53D4C53-FD69-4463-BDF4-C4601FA41CB6}"/>
              </a:ext>
            </a:extLst>
          </p:cNvPr>
          <p:cNvSpPr>
            <a:spLocks xmlns:a="http://schemas.openxmlformats.org/drawingml/2006/main" noGrp="1"/>
          </p:cNvSpPr>
          <p:nvPr/>
        </p:nvSpPr>
        <p:spPr>
          <a:xfrm xmlns:a="http://schemas.openxmlformats.org/drawingml/2006/main">
            <a:off x="762000" y="2047875"/>
            <a:ext cx="10668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Filter by topic and the complete time window.</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Return typed data and useful fallback text.</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Try a valid empty result and an invalid input.</a:t>
            </a:r>
          </a:p>
          <a:p xmlns:a="http://schemas.openxmlformats.org/drawingml/2006/main">
            <a:r>
              <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30 minutes · 00-start → 01-tool</a:t>
            </a:r>
          </a:p>
        </p:txBody>
      </p:sp>
    </p:spTree>
    <p:extLst>
      <p:ext uri="{BB962C8B-B14F-4D97-AF65-F5344CB8AC3E}">
        <p14:creationId xmlns:p14="http://schemas.microsoft.com/office/powerpoint/2010/main" val="409926712"/>
      </p:ext>
    </p:extLst>
  </p:cSld>
</p:sld>
</file>

<file path=ppt/slides/slide8.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10DCF02-4504-49A0-88CD-30804121CC7E}"/>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Exercise 2 · The React resource</a:t>
            </a:r>
          </a:p>
        </p:txBody>
      </p:sp>
      <p:sp>
        <p:nvSpPr>
          <p:cNvPr id="2" name="">
            <a:extLst xmlns:a="http://schemas.openxmlformats.org/drawingml/2006/main">
              <a:ext uri="{FF2B5EF4-FFF2-40B4-BE49-F238E27FC236}">
                <a16:creationId xmlns:a16="http://schemas.microsoft.com/office/drawing/2014/main" id="{CA0E3080-E679-4900-82EF-A428263426E3}"/>
              </a:ext>
            </a:extLst>
          </p:cNvPr>
          <p:cNvSpPr>
            <a:spLocks xmlns:a="http://schemas.openxmlformats.org/drawingml/2006/main" noGrp="1"/>
          </p:cNvSpPr>
          <p:nvPr/>
        </p:nvSpPr>
        <p:spPr>
          <a:xfrm xmlns:a="http://schemas.openxmlformats.org/drawingml/2006/main">
            <a:off x="762000" y="1809750"/>
            <a:ext cx="1066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_meta: {</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  ui: { resourceUri: "ui://agenda/sessions.html" }</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a:t>
            </a:r>
          </a:p>
          <a:p xmlns:a="http://schemas.openxmlformats.org/drawingml/2006/main">
            <a:r>
              <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useApp → ontoolresult → validated React state</a:t>
            </a:r>
          </a:p>
        </p:txBody>
      </p:sp>
      <p:sp>
        <p:nvSpPr>
          <p:cNvPr id="3" name="">
            <a:extLst xmlns:a="http://schemas.openxmlformats.org/drawingml/2006/main">
              <a:ext uri="{FF2B5EF4-FFF2-40B4-BE49-F238E27FC236}">
                <a16:creationId xmlns:a16="http://schemas.microsoft.com/office/drawing/2014/main" id="{3B7F337E-030B-47C9-829A-2CF9AB174264}"/>
              </a:ext>
            </a:extLst>
          </p:cNvPr>
          <p:cNvSpPr>
            <a:spLocks xmlns:a="http://schemas.openxmlformats.org/drawingml/2006/main" noGrp="1"/>
          </p:cNvSpPr>
          <p:nvPr/>
        </p:nvSpPr>
        <p:spPr>
          <a:xfrm xmlns:a="http://schemas.openxmlformats.org/drawingml/2006/main">
            <a:off x="762000" y="5810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100" b="0">
                <a:solidFill>
                  <a:srgbClr val="B8C2CA"/>
                </a:solidFill>
                <a:latin typeface="Arial"/>
                <a:ea typeface="Arial"/>
                <a:cs typeface="Arial"/>
              </a:defRPr>
            </a:pPr>
            <a:r>
              <a:rPr sz="2100" b="0">
                <a:solidFill>
                  <a:srgbClr val="B8C2CA"/>
                </a:solidFill>
                <a:latin typeface="Arial"/>
                <a:ea typeface="Arial"/>
                <a:cs typeface="Arial"/>
              </a:rPr>
              <a:t>35 minutes · 01-tool → 02-react-ui</a:t>
            </a:r>
          </a:p>
        </p:txBody>
      </p:sp>
    </p:spTree>
    <p:extLst>
      <p:ext uri="{BB962C8B-B14F-4D97-AF65-F5344CB8AC3E}">
        <p14:creationId xmlns:p14="http://schemas.microsoft.com/office/powerpoint/2010/main" val="1873376858"/>
      </p:ext>
    </p:extLst>
  </p:cSld>
</p:sld>
</file>

<file path=ppt/slides/slide9.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4A45083-BEDD-4B3D-A284-BBA4C41C6E3A}"/>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Exercise 3 · Trusted views</a:t>
            </a:r>
          </a:p>
        </p:txBody>
      </p:sp>
      <p:sp>
        <p:nvSpPr>
          <p:cNvPr id="2" name="">
            <a:extLst xmlns:a="http://schemas.openxmlformats.org/drawingml/2006/main">
              <a:ext uri="{FF2B5EF4-FFF2-40B4-BE49-F238E27FC236}">
                <a16:creationId xmlns:a16="http://schemas.microsoft.com/office/drawing/2014/main" id="{2B636612-6DE8-4EE5-8858-73423CDFEBA2}"/>
              </a:ext>
            </a:extLst>
          </p:cNvPr>
          <p:cNvSpPr>
            <a:spLocks xmlns:a="http://schemas.openxmlformats.org/drawingml/2006/main" noGrp="1"/>
          </p:cNvSpPr>
          <p:nvPr/>
        </p:nvSpPr>
        <p:spPr>
          <a:xfrm xmlns:a="http://schemas.openxmlformats.org/drawingml/2006/main">
            <a:off x="685800" y="13525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1950" b="0">
                <a:solidFill>
                  <a:srgbClr val="B8C2CA"/>
                </a:solidFill>
                <a:latin typeface="Arial"/>
                <a:ea typeface="Arial"/>
                <a:cs typeface="Arial"/>
              </a:defRPr>
            </a:pPr>
            <a:r>
              <a:rPr sz="1950" b="0">
                <a:solidFill>
                  <a:srgbClr val="B8C2CA"/>
                </a:solidFill>
                <a:latin typeface="Arial"/>
                <a:ea typeface="Arial"/>
                <a:cs typeface="Arial"/>
              </a:rPr>
              <a:t>The same records, selected by result.view.</a:t>
            </a:r>
          </a:p>
          <a:p xmlns:a="http://schemas.openxmlformats.org/drawingml/2006/main">
            <a:pPr>
              <a:lnSpc>
                <a:spcPct val="135000"/>
              </a:lnSpc>
              <a:buNone/>
              <a:defRPr sz="1950" b="0">
                <a:solidFill>
                  <a:srgbClr val="B8C2CA"/>
                </a:solidFill>
                <a:latin typeface="Arial"/>
                <a:ea typeface="Arial"/>
                <a:cs typeface="Arial"/>
              </a:defRPr>
            </a:pPr>
            <a:r>
              <a:rPr sz="1950" b="0">
                <a:solidFill>
                  <a:srgbClr val="B8C2CA"/>
                </a:solidFill>
                <a:latin typeface="Arial"/>
                <a:ea typeface="Arial"/>
                <a:cs typeface="Arial"/>
              </a:rPr>
              <a:t>25 minutes · 02-react-ui → 03-views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0751525ed3f418d"/>
          <a:stretch xmlns:a="http://schemas.openxmlformats.org/drawingml/2006/main"/>
        </p:blipFill>
        <p:spPr>
          <a:xfrm xmlns:a="http://schemas.openxmlformats.org/drawingml/2006/main">
            <a:off x="2082800" y="2095500"/>
            <a:ext cx="8026400" cy="4514850"/>
          </a:xfrm>
          <a:prstGeom xmlns:a="http://schemas.openxmlformats.org/drawingml/2006/main" prst="rect">
            <a:avLst/>
          </a:prstGeom>
        </p:spPr>
      </p:pic>
    </p:spTree>
    <p:extLst>
      <p:ext uri="{BB962C8B-B14F-4D97-AF65-F5344CB8AC3E}">
        <p14:creationId xmlns:p14="http://schemas.microsoft.com/office/powerpoint/2010/main" val="659120288"/>
      </p:ext>
    </p:extLst>
  </p:cSld>
</p:sld>
</file>

<file path=ppt/slides/slide10.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FBCDB93-B9D1-407D-A5A1-6251C789BA1B}"/>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Exercise 4 · UI to server</a:t>
            </a:r>
          </a:p>
        </p:txBody>
      </p:sp>
      <p:sp>
        <p:nvSpPr>
          <p:cNvPr id="2" name="">
            <a:extLst xmlns:a="http://schemas.openxmlformats.org/drawingml/2006/main">
              <a:ext uri="{FF2B5EF4-FFF2-40B4-BE49-F238E27FC236}">
                <a16:creationId xmlns:a16="http://schemas.microsoft.com/office/drawing/2014/main" id="{EA6BBD4A-403B-4EB3-B8D0-53279D7D86C0}"/>
              </a:ext>
            </a:extLst>
          </p:cNvPr>
          <p:cNvSpPr>
            <a:spLocks xmlns:a="http://schemas.openxmlformats.org/drawingml/2006/main" noGrp="1"/>
          </p:cNvSpPr>
          <p:nvPr/>
        </p:nvSpPr>
        <p:spPr>
          <a:xfrm xmlns:a="http://schemas.openxmlformats.org/drawingml/2006/main">
            <a:off x="762000" y="1809750"/>
            <a:ext cx="1066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const result = await app.callServerTool({</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  name: "show_sessions",</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  arguments: filters</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a:t>
            </a:r>
          </a:p>
          <a:p xmlns:a="http://schemas.openxmlformats.org/drawingml/2006/main">
            <a:r>
              <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return sessionResultSchema.parse(</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  result.structuredContent</a:t>
            </a:r>
          </a:p>
          <a:p xmlns:a="http://schemas.openxmlformats.org/drawingml/2006/main">
            <a:pPr>
              <a:lnSpc>
                <a:spcPct val="135000"/>
              </a:lnSpc>
              <a:buNone/>
              <a:defRPr sz="2250" b="0">
                <a:solidFill>
                  <a:srgbClr val="7AE2BC"/>
                </a:solidFill>
                <a:latin typeface="Arial"/>
                <a:ea typeface="Arial"/>
                <a:cs typeface="Arial"/>
              </a:defRPr>
            </a:pPr>
            <a:r>
              <a:rPr sz="2250" b="0">
                <a:solidFill>
                  <a:srgbClr val="7AE2BC"/>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EC53874A-D1F8-4E06-9F44-9C435E688352}"/>
              </a:ext>
            </a:extLst>
          </p:cNvPr>
          <p:cNvSpPr>
            <a:spLocks xmlns:a="http://schemas.openxmlformats.org/drawingml/2006/main" noGrp="1"/>
          </p:cNvSpPr>
          <p:nvPr/>
        </p:nvSpPr>
        <p:spPr>
          <a:xfrm xmlns:a="http://schemas.openxmlformats.org/drawingml/2006/main">
            <a:off x="762000" y="5810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100" b="0">
                <a:solidFill>
                  <a:srgbClr val="B8C2CA"/>
                </a:solidFill>
                <a:latin typeface="Arial"/>
                <a:ea typeface="Arial"/>
                <a:cs typeface="Arial"/>
              </a:defRPr>
            </a:pPr>
            <a:r>
              <a:rPr sz="2100" b="0">
                <a:solidFill>
                  <a:srgbClr val="B8C2CA"/>
                </a:solidFill>
                <a:latin typeface="Arial"/>
                <a:ea typeface="Arial"/>
                <a:cs typeface="Arial"/>
              </a:rPr>
              <a:t>30 minutes · 03-views → final</a:t>
            </a:r>
          </a:p>
        </p:txBody>
      </p:sp>
    </p:spTree>
    <p:extLst>
      <p:ext uri="{BB962C8B-B14F-4D97-AF65-F5344CB8AC3E}">
        <p14:creationId xmlns:p14="http://schemas.microsoft.com/office/powerpoint/2010/main" val="1595816495"/>
      </p:ext>
    </p:extLst>
  </p:cSld>
</p:sld>
</file>

<file path=ppt/slides/slide11.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F3666A87-F96A-4DF0-B1CC-11DE7A64BF7E}"/>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Context and conversation</a:t>
            </a:r>
          </a:p>
        </p:txBody>
      </p:sp>
      <p:sp>
        <p:nvSpPr>
          <p:cNvPr id="2" name="">
            <a:extLst xmlns:a="http://schemas.openxmlformats.org/drawingml/2006/main">
              <a:ext uri="{FF2B5EF4-FFF2-40B4-BE49-F238E27FC236}">
                <a16:creationId xmlns:a16="http://schemas.microsoft.com/office/drawing/2014/main" id="{0414C67F-E34F-4E2B-A22D-8F88BB3BE4AE}"/>
              </a:ext>
            </a:extLst>
          </p:cNvPr>
          <p:cNvSpPr>
            <a:spLocks xmlns:a="http://schemas.openxmlformats.org/drawingml/2006/main" noGrp="1"/>
          </p:cNvSpPr>
          <p:nvPr/>
        </p:nvSpPr>
        <p:spPr>
          <a:xfrm xmlns:a="http://schemas.openxmlformats.org/drawingml/2006/main">
            <a:off x="762000" y="2047875"/>
            <a:ext cx="10668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updateModelContext shares the current selection.</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sendMessage asks the host to continue.</a:t>
            </a:r>
          </a:p>
          <a:p xmlns:a="http://schemas.openxmlformats.org/drawingml/2006/main">
            <a:r>
              <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The local host records these messages.</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A conversational host can respond.</a:t>
            </a:r>
          </a:p>
        </p:txBody>
      </p:sp>
    </p:spTree>
    <p:extLst>
      <p:ext uri="{BB962C8B-B14F-4D97-AF65-F5344CB8AC3E}">
        <p14:creationId xmlns:p14="http://schemas.microsoft.com/office/powerpoint/2010/main" val="443921604"/>
      </p:ext>
    </p:extLst>
  </p:cSld>
</p:sld>
</file>

<file path=ppt/slides/slide12.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D050EB8-B6C9-4C33-B0CF-551AE2BBF523}"/>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Loading, empty results and errors</a:t>
            </a:r>
          </a:p>
        </p:txBody>
      </p:sp>
      <p:sp>
        <p:nvSpPr>
          <p:cNvPr id="2" name="">
            <a:extLst xmlns:a="http://schemas.openxmlformats.org/drawingml/2006/main">
              <a:ext uri="{FF2B5EF4-FFF2-40B4-BE49-F238E27FC236}">
                <a16:creationId xmlns:a16="http://schemas.microsoft.com/office/drawing/2014/main" id="{5501401D-A078-419B-B21B-9E8D0B96B7FF}"/>
              </a:ext>
            </a:extLst>
          </p:cNvPr>
          <p:cNvSpPr>
            <a:spLocks xmlns:a="http://schemas.openxmlformats.org/drawingml/2006/main" noGrp="1"/>
          </p:cNvSpPr>
          <p:nvPr/>
        </p:nvSpPr>
        <p:spPr>
          <a:xfrm xmlns:a="http://schemas.openxmlformats.org/drawingml/2006/main">
            <a:off x="762000" y="2047875"/>
            <a:ext cx="10668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Keep the last useful result during a request.</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Disable duplicate submissions.</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Explain an empty result and how to recover.</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Validate data on both sides of the bridge.</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Keep useful text when a host cannot render UI.</a:t>
            </a:r>
          </a:p>
        </p:txBody>
      </p:sp>
    </p:spTree>
    <p:extLst>
      <p:ext uri="{BB962C8B-B14F-4D97-AF65-F5344CB8AC3E}">
        <p14:creationId xmlns:p14="http://schemas.microsoft.com/office/powerpoint/2010/main" val="1448072741"/>
      </p:ext>
    </p:extLst>
  </p:cSld>
</p:sld>
</file>

<file path=ppt/slides/slide13.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63016A7-27EA-4870-9703-7A0B73484F27}"/>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Pair challenge</a:t>
            </a:r>
          </a:p>
        </p:txBody>
      </p:sp>
      <p:sp>
        <p:nvSpPr>
          <p:cNvPr id="2" name="">
            <a:extLst xmlns:a="http://schemas.openxmlformats.org/drawingml/2006/main">
              <a:ext uri="{FF2B5EF4-FFF2-40B4-BE49-F238E27FC236}">
                <a16:creationId xmlns:a16="http://schemas.microsoft.com/office/drawing/2014/main" id="{02A9939F-221C-4AF2-9478-B0A4A08E6A37}"/>
              </a:ext>
            </a:extLst>
          </p:cNvPr>
          <p:cNvSpPr>
            <a:spLocks xmlns:a="http://schemas.openxmlformats.org/drawingml/2006/main" noGrp="1"/>
          </p:cNvSpPr>
          <p:nvPr/>
        </p:nvSpPr>
        <p:spPr>
          <a:xfrm xmlns:a="http://schemas.openxmlformats.org/drawingml/2006/main">
            <a:off x="762000" y="2047875"/>
            <a:ext cx="10668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Add a room filter to schema, server and UI.</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Or add a timeline as a new trusted view.</a:t>
            </a:r>
          </a:p>
          <a:p xmlns:a="http://schemas.openxmlformats.org/drawingml/2006/main">
            <a:r>
              <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Preserve the other filters. Add one useful test.</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20 minutes · Show the actual result</a:t>
            </a:r>
          </a:p>
        </p:txBody>
      </p:sp>
    </p:spTree>
    <p:extLst>
      <p:ext uri="{BB962C8B-B14F-4D97-AF65-F5344CB8AC3E}">
        <p14:creationId xmlns:p14="http://schemas.microsoft.com/office/powerpoint/2010/main" val="145738889"/>
      </p:ext>
    </p:extLst>
  </p:cSld>
</p:sld>
</file>

<file path=ppt/slides/slide14.xml><?xml version="1.0" encoding="utf-8"?>
<p:sld xmlns:p="http://schemas.openxmlformats.org/presentationml/2006/main">
  <p:cSld>
    <p:bg>
      <p:bgPr>
        <a:solidFill xmlns:a="http://schemas.openxmlformats.org/drawingml/2006/main">
          <a:srgbClr val="13171B"/>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04363BA-3837-4518-A4AB-7138809C0C68}"/>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3750" b="1">
                <a:solidFill>
                  <a:srgbClr val="F3F4F6"/>
                </a:solidFill>
                <a:latin typeface="Arial"/>
                <a:ea typeface="Arial"/>
                <a:cs typeface="Arial"/>
              </a:defRPr>
            </a:pPr>
            <a:r>
              <a:rPr sz="3750" b="1">
                <a:solidFill>
                  <a:srgbClr val="F3F4F6"/>
                </a:solidFill>
                <a:latin typeface="Arial"/>
                <a:ea typeface="Arial"/>
                <a:cs typeface="Arial"/>
              </a:rPr>
              <a:t>Keep building</a:t>
            </a:r>
          </a:p>
        </p:txBody>
      </p:sp>
      <p:sp>
        <p:nvSpPr>
          <p:cNvPr id="2" name="">
            <a:extLst xmlns:a="http://schemas.openxmlformats.org/drawingml/2006/main">
              <a:ext uri="{FF2B5EF4-FFF2-40B4-BE49-F238E27FC236}">
                <a16:creationId xmlns:a16="http://schemas.microsoft.com/office/drawing/2014/main" id="{EA95FD9E-05C7-41F1-B0B1-412C57CAC45D}"/>
              </a:ext>
            </a:extLst>
          </p:cNvPr>
          <p:cNvSpPr>
            <a:spLocks xmlns:a="http://schemas.openxmlformats.org/drawingml/2006/main" noGrp="1"/>
          </p:cNvSpPr>
          <p:nvPr/>
        </p:nvSpPr>
        <p:spPr>
          <a:xfrm xmlns:a="http://schemas.openxmlformats.org/drawingml/2006/main">
            <a:off x="762000" y="2047875"/>
            <a:ext cx="10668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github.com/glennreyes/generative-ui-mcp-workshop</a:t>
            </a:r>
          </a:p>
          <a:p xmlns:a="http://schemas.openxmlformats.org/drawingml/2006/main">
            <a:r>
              <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Setup · exercises · solutions · slides</a:t>
            </a:r>
          </a:p>
          <a:p xmlns:a="http://schemas.openxmlformats.org/drawingml/2006/main">
            <a:r>
              <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Build with Glenn on Discord</a:t>
            </a:r>
          </a:p>
          <a:p xmlns:a="http://schemas.openxmlformats.org/drawingml/2006/main">
            <a:pPr>
              <a:lnSpc>
                <a:spcPct val="135000"/>
              </a:lnSpc>
              <a:buNone/>
              <a:defRPr sz="2700" b="0">
                <a:solidFill>
                  <a:srgbClr val="F3F4F6"/>
                </a:solidFill>
                <a:latin typeface="Arial"/>
                <a:ea typeface="Arial"/>
                <a:cs typeface="Arial"/>
              </a:defRPr>
            </a:pPr>
            <a:r>
              <a:rPr sz="2700" b="0">
                <a:solidFill>
                  <a:srgbClr val="F3F4F6"/>
                </a:solidFill>
                <a:latin typeface="Arial"/>
                <a:ea typeface="Arial"/>
                <a:cs typeface="Arial"/>
              </a:rPr>
              <a:t>discord.gg/8p3uGHNMu</a:t>
            </a:r>
          </a:p>
        </p:txBody>
      </p:sp>
    </p:spTree>
    <p:extLst>
      <p:ext uri="{BB962C8B-B14F-4D97-AF65-F5344CB8AC3E}">
        <p14:creationId xmlns:p14="http://schemas.microsoft.com/office/powerpoint/2010/main" val="154469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2026-09-17T08:00:15.0060000Z</dcterms:created>
  <dcterms:modified xsi:type="dcterms:W3CDTF">2026-09-17T08:00:15.0060000Z</dcterms:modified>
</coreProperties>
</file>